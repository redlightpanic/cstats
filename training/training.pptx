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01" y="3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8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6273A"/>
                </a:solidFill>
                <a:latin typeface="Aptos"/>
              </a:defRPr>
            </a:pPr>
            <a:r>
              <a:rPr dirty="0" err="1"/>
              <a:t>Technical vs. Biological Replicates – Pseudoreplication</a:t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lang="ca-ES" dirty="0"/>
              <a:t/>
            </a:r>
            <a:r>
              <a:rPr dirty="0" err="1"/>
              <a:t/>
            </a:r>
            <a:r>
              <a:rPr lang="ca-ES" dirty="0"/>
              <a:t/>
            </a:r>
            <a:r>
              <a:rPr lang="ca-ES" dirty="0" err="1"/>
              <a:t/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D6D7B"/>
                </a:solidFill>
                <a:latin typeface="Aptos"/>
              </a:defRPr>
            </a:pPr>
            <a:r>
              <a:t>Example: cell viability under one experimental condition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967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D6D7B"/>
                </a:solidFill>
                <a:latin typeface="Aptos"/>
              </a:defRPr>
            </a:pPr>
            <a:r>
              <a:t>cstats  ·  Fundamentals of Experimental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D6D7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5212080" cy="2926080"/>
          </a:xfrm>
          <a:prstGeom prst="round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73152" cy="2926080"/>
          </a:xfrm>
          <a:prstGeom prst="rect">
            <a:avLst/>
          </a:prstGeom>
          <a:solidFill>
            <a:srgbClr val="128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892808"/>
            <a:ext cx="4800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28479"/>
                </a:solidFill>
                <a:latin typeface="Aptos"/>
              </a:defRPr>
            </a:pPr>
            <a:r>
              <a:t>Biological replicate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4754880" cy="718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6273A"/>
                </a:solidFill>
                <a:latin typeface="Aptos"/>
              </a:defRPr>
            </a:pPr>
            <a:r>
              <a:rPr lang="ca-ES" dirty="0"/>
              <a:t>A culture independent of the others (B1, B2, B3, B4).</a:t>
            </a:r>
            <a:r>
              <a:rPr dirty="0" err="1"/>
              <a:t/>
            </a:r>
            <a:r>
              <a:rPr dirty="0"/>
              <a:t/>
            </a:r>
            <a:r>
              <a:rPr lang="ca-ES" dirty="0"/>
              <a:t/>
            </a:r>
            <a:r>
              <a:rPr dirty="0"/>
              <a:t/>
            </a:r>
          </a:p>
          <a:p>
            <a:pPr>
              <a:spcAft>
                <a:spcPts val="800"/>
              </a:spcAft>
              <a:defRPr sz="1700" b="0">
                <a:solidFill>
                  <a:srgbClr val="16273A"/>
                </a:solidFill>
                <a:latin typeface="Aptos"/>
              </a:defRPr>
            </a:pPr>
            <a:r>
              <a:rPr dirty="0" err="1"/>
              <a:t>Captures variability between biological units.</a:t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91640"/>
            <a:ext cx="5212080" cy="2926080"/>
          </a:xfrm>
          <a:prstGeom prst="round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691640"/>
            <a:ext cx="73152" cy="2926080"/>
          </a:xfrm>
          <a:prstGeom prst="rect">
            <a:avLst/>
          </a:prstGeom>
          <a:solidFill>
            <a:srgbClr val="B94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892808"/>
            <a:ext cx="4800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B94146"/>
                </a:solidFill>
                <a:latin typeface="Aptos"/>
              </a:defRPr>
            </a:pPr>
            <a:r>
              <a:t>Technical replicate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6888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6273A"/>
                </a:solidFill>
                <a:latin typeface="Aptos"/>
              </a:defRPr>
            </a:pPr>
            <a:r>
              <a:t>Three measurements of the same culture.</a:t>
            </a:r>
          </a:p>
          <a:p>
            <a:pPr>
              <a:spcAft>
                <a:spcPts val="800"/>
              </a:spcAft>
              <a:defRPr sz="1700" b="0">
                <a:solidFill>
                  <a:srgbClr val="16273A"/>
                </a:solidFill>
                <a:latin typeface="Aptos"/>
              </a:defRPr>
            </a:pPr>
            <a:r>
              <a:t>Captures measurement variability, not three new cultures.</a:t>
            </a:r>
          </a:p>
        </p:txBody>
      </p:sp>
      <p:sp>
        <p:nvSpPr>
          <p:cNvPr id="15" name="Oval 14"/>
          <p:cNvSpPr/>
          <p:nvPr/>
        </p:nvSpPr>
        <p:spPr>
          <a:xfrm>
            <a:off x="1143000" y="5074920"/>
            <a:ext cx="493776" cy="493776"/>
          </a:xfrm>
          <a:prstGeom prst="ellipse">
            <a:avLst/>
          </a:prstGeom>
          <a:solidFill>
            <a:srgbClr val="128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4937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B1</a:t>
            </a:r>
          </a:p>
        </p:txBody>
      </p:sp>
      <p:sp>
        <p:nvSpPr>
          <p:cNvPr id="17" name="Oval 16"/>
          <p:cNvSpPr/>
          <p:nvPr/>
        </p:nvSpPr>
        <p:spPr>
          <a:xfrm>
            <a:off x="6446520" y="5074920"/>
            <a:ext cx="493776" cy="493776"/>
          </a:xfrm>
          <a:prstGeom prst="ellipse">
            <a:avLst/>
          </a:prstGeom>
          <a:solidFill>
            <a:srgbClr val="B94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5175504"/>
            <a:ext cx="4937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·</a:t>
            </a:r>
          </a:p>
        </p:txBody>
      </p:sp>
      <p:sp>
        <p:nvSpPr>
          <p:cNvPr id="19" name="Oval 18"/>
          <p:cNvSpPr/>
          <p:nvPr/>
        </p:nvSpPr>
        <p:spPr>
          <a:xfrm>
            <a:off x="6675120" y="5074920"/>
            <a:ext cx="493776" cy="493776"/>
          </a:xfrm>
          <a:prstGeom prst="ellipse">
            <a:avLst/>
          </a:prstGeom>
          <a:solidFill>
            <a:srgbClr val="B94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5120" y="5175504"/>
            <a:ext cx="4937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·</a:t>
            </a:r>
          </a:p>
        </p:txBody>
      </p:sp>
      <p:sp>
        <p:nvSpPr>
          <p:cNvPr id="21" name="Oval 20"/>
          <p:cNvSpPr/>
          <p:nvPr/>
        </p:nvSpPr>
        <p:spPr>
          <a:xfrm>
            <a:off x="6903720" y="5074920"/>
            <a:ext cx="493776" cy="493776"/>
          </a:xfrm>
          <a:prstGeom prst="ellipse">
            <a:avLst/>
          </a:prstGeom>
          <a:solidFill>
            <a:srgbClr val="B94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03720" y="5175504"/>
            <a:ext cx="4937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·</a:t>
            </a:r>
          </a:p>
        </p:txBody>
      </p:sp>
      <p:sp>
        <p:nvSpPr>
          <p:cNvPr id="23" name="Oval 22"/>
          <p:cNvSpPr/>
          <p:nvPr/>
        </p:nvSpPr>
        <p:spPr>
          <a:xfrm>
            <a:off x="2240280" y="5074920"/>
            <a:ext cx="493776" cy="493776"/>
          </a:xfrm>
          <a:prstGeom prst="ellipse">
            <a:avLst/>
          </a:prstGeom>
          <a:solidFill>
            <a:srgbClr val="128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240280" y="5175504"/>
            <a:ext cx="4937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B2</a:t>
            </a:r>
          </a:p>
        </p:txBody>
      </p:sp>
      <p:sp>
        <p:nvSpPr>
          <p:cNvPr id="25" name="Oval 24"/>
          <p:cNvSpPr/>
          <p:nvPr/>
        </p:nvSpPr>
        <p:spPr>
          <a:xfrm>
            <a:off x="7635240" y="5074920"/>
            <a:ext cx="493776" cy="493776"/>
          </a:xfrm>
          <a:prstGeom prst="ellipse">
            <a:avLst/>
          </a:prstGeom>
          <a:solidFill>
            <a:srgbClr val="B94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35240" y="5175504"/>
            <a:ext cx="4937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·</a:t>
            </a:r>
          </a:p>
        </p:txBody>
      </p:sp>
      <p:sp>
        <p:nvSpPr>
          <p:cNvPr id="27" name="Oval 26"/>
          <p:cNvSpPr/>
          <p:nvPr/>
        </p:nvSpPr>
        <p:spPr>
          <a:xfrm>
            <a:off x="7863840" y="5074920"/>
            <a:ext cx="493776" cy="493776"/>
          </a:xfrm>
          <a:prstGeom prst="ellipse">
            <a:avLst/>
          </a:prstGeom>
          <a:solidFill>
            <a:srgbClr val="B94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63840" y="5175504"/>
            <a:ext cx="4937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·</a:t>
            </a:r>
          </a:p>
        </p:txBody>
      </p:sp>
      <p:sp>
        <p:nvSpPr>
          <p:cNvPr id="29" name="Oval 28"/>
          <p:cNvSpPr/>
          <p:nvPr/>
        </p:nvSpPr>
        <p:spPr>
          <a:xfrm>
            <a:off x="8092440" y="5074920"/>
            <a:ext cx="493776" cy="493776"/>
          </a:xfrm>
          <a:prstGeom prst="ellipse">
            <a:avLst/>
          </a:prstGeom>
          <a:solidFill>
            <a:srgbClr val="B94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92440" y="5175504"/>
            <a:ext cx="4937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·</a:t>
            </a:r>
          </a:p>
        </p:txBody>
      </p:sp>
      <p:sp>
        <p:nvSpPr>
          <p:cNvPr id="31" name="Oval 30"/>
          <p:cNvSpPr/>
          <p:nvPr/>
        </p:nvSpPr>
        <p:spPr>
          <a:xfrm>
            <a:off x="3337560" y="5074920"/>
            <a:ext cx="493776" cy="493776"/>
          </a:xfrm>
          <a:prstGeom prst="ellipse">
            <a:avLst/>
          </a:prstGeom>
          <a:solidFill>
            <a:srgbClr val="128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337560" y="5175504"/>
            <a:ext cx="4937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B3</a:t>
            </a:r>
          </a:p>
        </p:txBody>
      </p:sp>
      <p:sp>
        <p:nvSpPr>
          <p:cNvPr id="33" name="Oval 32"/>
          <p:cNvSpPr/>
          <p:nvPr/>
        </p:nvSpPr>
        <p:spPr>
          <a:xfrm>
            <a:off x="8823960" y="5074920"/>
            <a:ext cx="493776" cy="493776"/>
          </a:xfrm>
          <a:prstGeom prst="ellipse">
            <a:avLst/>
          </a:prstGeom>
          <a:solidFill>
            <a:srgbClr val="B94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823960" y="5175504"/>
            <a:ext cx="4937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·</a:t>
            </a:r>
          </a:p>
        </p:txBody>
      </p:sp>
      <p:sp>
        <p:nvSpPr>
          <p:cNvPr id="35" name="Oval 34"/>
          <p:cNvSpPr/>
          <p:nvPr/>
        </p:nvSpPr>
        <p:spPr>
          <a:xfrm>
            <a:off x="9052560" y="5074920"/>
            <a:ext cx="493776" cy="493776"/>
          </a:xfrm>
          <a:prstGeom prst="ellipse">
            <a:avLst/>
          </a:prstGeom>
          <a:solidFill>
            <a:srgbClr val="B94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052560" y="5175504"/>
            <a:ext cx="4937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·</a:t>
            </a:r>
          </a:p>
        </p:txBody>
      </p:sp>
      <p:sp>
        <p:nvSpPr>
          <p:cNvPr id="37" name="Oval 36"/>
          <p:cNvSpPr/>
          <p:nvPr/>
        </p:nvSpPr>
        <p:spPr>
          <a:xfrm>
            <a:off x="9281160" y="5074920"/>
            <a:ext cx="493776" cy="493776"/>
          </a:xfrm>
          <a:prstGeom prst="ellipse">
            <a:avLst/>
          </a:prstGeom>
          <a:solidFill>
            <a:srgbClr val="B94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81160" y="5175504"/>
            <a:ext cx="4937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·</a:t>
            </a:r>
          </a:p>
        </p:txBody>
      </p:sp>
      <p:sp>
        <p:nvSpPr>
          <p:cNvPr id="39" name="Oval 38"/>
          <p:cNvSpPr/>
          <p:nvPr/>
        </p:nvSpPr>
        <p:spPr>
          <a:xfrm>
            <a:off x="4434840" y="5074920"/>
            <a:ext cx="493776" cy="493776"/>
          </a:xfrm>
          <a:prstGeom prst="ellipse">
            <a:avLst/>
          </a:prstGeom>
          <a:solidFill>
            <a:srgbClr val="128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434840" y="5175504"/>
            <a:ext cx="4937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B4</a:t>
            </a:r>
          </a:p>
        </p:txBody>
      </p:sp>
      <p:sp>
        <p:nvSpPr>
          <p:cNvPr id="41" name="Oval 40"/>
          <p:cNvSpPr/>
          <p:nvPr/>
        </p:nvSpPr>
        <p:spPr>
          <a:xfrm>
            <a:off x="10012680" y="5074920"/>
            <a:ext cx="493776" cy="493776"/>
          </a:xfrm>
          <a:prstGeom prst="ellipse">
            <a:avLst/>
          </a:prstGeom>
          <a:solidFill>
            <a:srgbClr val="B94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012680" y="5175504"/>
            <a:ext cx="4937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·</a:t>
            </a:r>
          </a:p>
        </p:txBody>
      </p:sp>
      <p:sp>
        <p:nvSpPr>
          <p:cNvPr id="43" name="Oval 42"/>
          <p:cNvSpPr/>
          <p:nvPr/>
        </p:nvSpPr>
        <p:spPr>
          <a:xfrm>
            <a:off x="10241280" y="5074920"/>
            <a:ext cx="493776" cy="493776"/>
          </a:xfrm>
          <a:prstGeom prst="ellipse">
            <a:avLst/>
          </a:prstGeom>
          <a:solidFill>
            <a:srgbClr val="B94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241280" y="5175504"/>
            <a:ext cx="4937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·</a:t>
            </a:r>
          </a:p>
        </p:txBody>
      </p:sp>
      <p:sp>
        <p:nvSpPr>
          <p:cNvPr id="45" name="Oval 44"/>
          <p:cNvSpPr/>
          <p:nvPr/>
        </p:nvSpPr>
        <p:spPr>
          <a:xfrm>
            <a:off x="10469880" y="5074920"/>
            <a:ext cx="493776" cy="493776"/>
          </a:xfrm>
          <a:prstGeom prst="ellipse">
            <a:avLst/>
          </a:prstGeom>
          <a:solidFill>
            <a:srgbClr val="B94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469880" y="5175504"/>
            <a:ext cx="4937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" y="5715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28479"/>
                </a:solidFill>
                <a:latin typeface="Aptos"/>
              </a:defRPr>
            </a:pPr>
            <a:r>
              <a:t>4 biological units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5715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B94146"/>
                </a:solidFill>
                <a:latin typeface="Aptos"/>
              </a:defRPr>
            </a:pPr>
            <a:r>
              <a:t>3 measurements per unit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8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D6D7B"/>
                </a:solidFill>
                <a:latin typeface="Aptos"/>
              </a:defRPr>
            </a:pPr>
            <a:r>
              <a:t>Treating technical measurements as independent observations artificially inflates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967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D6D7B"/>
                </a:solidFill>
                <a:latin typeface="Aptos"/>
              </a:defRPr>
            </a:pPr>
            <a:r>
              <a:t>cstats  ·  Fundamentals of Experimental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D6D7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166360" cy="2169160"/>
          </a:xfrm>
          <a:prstGeom prst="round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73152" cy="2169160"/>
          </a:xfrm>
          <a:prstGeom prst="rect">
            <a:avLst/>
          </a:prstGeom>
          <a:solidFill>
            <a:srgbClr val="B94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89280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B94146"/>
                </a:solidFill>
                <a:latin typeface="Aptos"/>
              </a:defRPr>
            </a:pPr>
            <a:r>
              <a:t>Incorrect: n =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68880"/>
            <a:ext cx="4754880" cy="1343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6273A"/>
                </a:solidFill>
                <a:latin typeface="Aptos"/>
              </a:defRPr>
            </a:pPr>
            <a:r>
              <a:rPr dirty="0"/>
              <a:t>4 cultures × 3 measurements = 12 rows</a:t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</a:p>
          <a:p>
            <a:pPr>
              <a:spcAft>
                <a:spcPts val="800"/>
              </a:spcAft>
              <a:defRPr sz="1700" b="0">
                <a:solidFill>
                  <a:srgbClr val="16273A"/>
                </a:solidFill>
                <a:latin typeface="Aptos"/>
              </a:defRPr>
            </a:pPr>
            <a:endParaRPr dirty="0"/>
          </a:p>
          <a:p>
            <a:pPr>
              <a:spcAft>
                <a:spcPts val="800"/>
              </a:spcAft>
              <a:defRPr sz="1700" b="0">
                <a:solidFill>
                  <a:srgbClr val="16273A"/>
                </a:solidFill>
                <a:latin typeface="Aptos"/>
              </a:defRPr>
            </a:pPr>
            <a:r>
              <a:rPr dirty="0"/>
              <a:t>The 12 measurements are NOT 12 biological replicates.</a:t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91640"/>
            <a:ext cx="5166360" cy="2169160"/>
          </a:xfrm>
          <a:prstGeom prst="round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691640"/>
            <a:ext cx="73152" cy="2169160"/>
          </a:xfrm>
          <a:prstGeom prst="rect">
            <a:avLst/>
          </a:prstGeom>
          <a:solidFill>
            <a:srgbClr val="128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89280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28479"/>
                </a:solidFill>
                <a:latin typeface="Aptos"/>
              </a:defRPr>
            </a:pPr>
            <a:r>
              <a:t>Correct: n =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68880"/>
            <a:ext cx="4754880" cy="1082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6273A"/>
                </a:solidFill>
                <a:latin typeface="Aptos"/>
              </a:defRPr>
            </a:pPr>
            <a:r>
              <a:rPr b="1" dirty="0" err="1"/>
              <a:t>We average the 3 measurements from each culture.</a:t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</a:p>
          <a:p>
            <a:pPr>
              <a:spcAft>
                <a:spcPts val="800"/>
              </a:spcAft>
              <a:defRPr sz="1700" b="0">
                <a:solidFill>
                  <a:srgbClr val="16273A"/>
                </a:solidFill>
                <a:latin typeface="Aptos"/>
              </a:defRPr>
            </a:pPr>
            <a:endParaRPr dirty="0"/>
          </a:p>
          <a:p>
            <a:pPr>
              <a:spcAft>
                <a:spcPts val="800"/>
              </a:spcAft>
              <a:defRPr sz="1700" b="0">
                <a:solidFill>
                  <a:srgbClr val="16273A"/>
                </a:solidFill>
                <a:latin typeface="Aptos"/>
              </a:defRPr>
            </a:pPr>
            <a:r>
              <a:rPr dirty="0" err="1"/>
              <a:t>We analyze 4 values, one per biological unit.</a:t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</a:p>
        </p:txBody>
      </p:sp>
      <p:sp>
        <p:nvSpPr>
          <p:cNvPr id="17" name="TextBox 2">
            <a:extLst>
              <a:ext uri="{FF2B5EF4-FFF2-40B4-BE49-F238E27FC236}">
                <a16:creationId xmlns:a16="http://schemas.microsoft.com/office/drawing/2014/main" id="{B7735E04-C116-477B-4806-028382450CCB}"/>
              </a:ext>
            </a:extLst>
          </p:cNvPr>
          <p:cNvSpPr txBox="1"/>
          <p:nvPr/>
        </p:nvSpPr>
        <p:spPr>
          <a:xfrm>
            <a:off x="594360" y="393192"/>
            <a:ext cx="10972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6273A"/>
                </a:solidFill>
                <a:latin typeface="Aptos"/>
              </a:defRPr>
            </a:pPr>
            <a:r>
              <a:rPr dirty="0" err="1"/>
              <a:t>Technical vs. Biological Replicates – Pseudoreplication</a:t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lang="ca-ES" dirty="0"/>
              <a:t/>
            </a:r>
            <a:r>
              <a:rPr dirty="0" err="1"/>
              <a:t/>
            </a:r>
            <a:r>
              <a:rPr lang="ca-ES" dirty="0"/>
              <a:t/>
            </a:r>
            <a:r>
              <a:rPr lang="ca-ES" dirty="0" err="1"/>
              <a:t/>
            </a:r>
            <a:endParaRPr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24513883-BC55-E592-8EA4-795F406B3C51}"/>
              </a:ext>
            </a:extLst>
          </p:cNvPr>
          <p:cNvSpPr txBox="1"/>
          <p:nvPr/>
        </p:nvSpPr>
        <p:spPr>
          <a:xfrm>
            <a:off x="762000" y="4396586"/>
            <a:ext cx="10668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6273A"/>
                </a:solidFill>
                <a:latin typeface="Aptos"/>
              </a:defRPr>
            </a:pPr>
            <a:r>
              <a:rPr lang="ca-ES" b="1" dirty="0" err="1"/>
              <a:t>Pseudoreplication</a:t>
            </a:r>
            <a:endParaRPr lang="ca-ES" b="1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 b="0">
                <a:solidFill>
                  <a:srgbClr val="16273A"/>
                </a:solidFill>
                <a:latin typeface="Aptos"/>
              </a:defRPr>
            </a:pPr>
            <a:r>
              <a:rPr lang="ca-ES" dirty="0"/>
              <a:t>Artificially inflated sample size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 b="0">
                <a:solidFill>
                  <a:srgbClr val="16273A"/>
                </a:solidFill>
                <a:latin typeface="Aptos"/>
              </a:defRPr>
            </a:pPr>
            <a:r>
              <a:rPr lang="ca-ES" dirty="0"/>
              <a:t>Underestimated uncertainty: standard errors too small</a:t>
            </a:r>
            <a:r>
              <a:rPr lang="ca-ES" dirty="0" err="1"/>
              <a:t/>
            </a:r>
            <a:r>
              <a:rPr lang="ca-ES" dirty="0"/>
              <a:t/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 b="0">
                <a:solidFill>
                  <a:srgbClr val="16273A"/>
                </a:solidFill>
                <a:latin typeface="Aptos"/>
              </a:defRPr>
            </a:pPr>
            <a:r>
              <a:rPr lang="ca-ES" dirty="0"/>
              <a:t>Artificially low p-values</a:t>
            </a:r>
            <a:r>
              <a:rPr lang="ca-ES" dirty="0" err="1"/>
              <a:t/>
            </a:r>
            <a:r>
              <a:rPr lang="ca-ES" dirty="0"/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8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6273A"/>
                </a:solidFill>
                <a:latin typeface="Aptos"/>
              </a:defRPr>
            </a:pPr>
            <a:r>
              <a:rPr lang="ca-ES" dirty="0" err="1"/>
              <a:t>Biological Replicates – Independent vs. Dependent</a:t>
            </a:r>
            <a:r>
              <a:rPr lang="ca-ES" dirty="0"/>
              <a:t/>
            </a:r>
            <a:r>
              <a:rPr lang="ca-ES" dirty="0" err="1"/>
              <a:t/>
            </a:r>
            <a:r>
              <a:rPr lang="ca-ES" dirty="0"/>
              <a:t/>
            </a:r>
            <a:r>
              <a:rPr lang="ca-ES" dirty="0" err="1"/>
              <a:t/>
            </a:r>
            <a:r>
              <a:rPr lang="ca-ES" dirty="0"/>
              <a:t/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D6D7B"/>
                </a:solidFill>
                <a:latin typeface="Aptos"/>
              </a:defRPr>
            </a:pPr>
            <a:r>
              <a:t>4</a:t>
            </a:r>
          </a:p>
        </p:txBody>
      </p:sp>
      <p:pic>
        <p:nvPicPr>
          <p:cNvPr id="80" name="Imatge 79">
            <a:extLst>
              <a:ext uri="{FF2B5EF4-FFF2-40B4-BE49-F238E27FC236}">
                <a16:creationId xmlns:a16="http://schemas.microsoft.com/office/drawing/2014/main" id="{4BA9B0C1-1C9F-830A-0BF5-ACA690E3E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598" y="1030446"/>
            <a:ext cx="9932323" cy="569039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8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6273A"/>
                </a:solidFill>
                <a:latin typeface="Aptos"/>
              </a:defRPr>
            </a:pPr>
            <a:r>
              <a:rPr dirty="0"/>
              <a:t>Which Statistical Test Should We Use?</a:t>
            </a:r>
            <a:r>
              <a:rPr dirty="0" err="1"/>
              <a:t/>
            </a:r>
            <a:r>
              <a:rPr dirty="0"/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D6D7B"/>
                </a:solidFill>
                <a:latin typeface="Aptos"/>
              </a:defRPr>
            </a:pPr>
            <a:r>
              <a:t>Independence is an assumption shared by many statistical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967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D6D7B"/>
                </a:solidFill>
                <a:latin typeface="Aptos"/>
              </a:defRPr>
            </a:pPr>
            <a:r>
              <a:t>cstats  ·  Fundamentals of Experimental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D6D7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2944368" cy="640080"/>
          </a:xfrm>
          <a:prstGeom prst="round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56231"/>
            <a:ext cx="2697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Comparison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3320" y="1737360"/>
            <a:ext cx="4041648" cy="640080"/>
          </a:xfrm>
          <a:prstGeom prst="round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0" y="1856231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Independent observations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737360"/>
            <a:ext cx="3630168" cy="640080"/>
          </a:xfrm>
          <a:prstGeom prst="round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0" y="1856231"/>
            <a:ext cx="3383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Dependent observations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542032"/>
            <a:ext cx="2944368" cy="832104"/>
          </a:xfrm>
          <a:prstGeom prst="round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660903"/>
            <a:ext cx="27249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73A"/>
                </a:solidFill>
                <a:latin typeface="Aptos"/>
              </a:defRPr>
            </a:pPr>
            <a:r>
              <a:t>2 groups · parametric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2542032"/>
            <a:ext cx="4041648" cy="832104"/>
          </a:xfrm>
          <a:prstGeom prst="roundRect">
            <a:avLst/>
          </a:prstGeom>
          <a:solidFill>
            <a:srgbClr val="ED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0480" y="2660903"/>
            <a:ext cx="382219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6273A"/>
                </a:solidFill>
                <a:latin typeface="Aptos"/>
              </a:defRPr>
            </a:pPr>
            <a:r>
              <a:t>Welch’s t-test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2542032"/>
            <a:ext cx="3630168" cy="832104"/>
          </a:xfrm>
          <a:prstGeom prst="roundRect">
            <a:avLst/>
          </a:prstGeom>
          <a:solidFill>
            <a:srgbClr val="F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80" y="2660903"/>
            <a:ext cx="34107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6273A"/>
                </a:solidFill>
                <a:latin typeface="Aptos"/>
              </a:defRPr>
            </a:pPr>
            <a:r>
              <a:t>Paired t-test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502152"/>
            <a:ext cx="2944368" cy="832104"/>
          </a:xfrm>
          <a:prstGeom prst="round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3621024"/>
            <a:ext cx="27249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73A"/>
                </a:solidFill>
                <a:latin typeface="Aptos"/>
              </a:defRPr>
            </a:pPr>
            <a:r>
              <a:t>2 groups · nonparametric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3502152"/>
            <a:ext cx="4041648" cy="832104"/>
          </a:xfrm>
          <a:prstGeom prst="roundRect">
            <a:avLst/>
          </a:prstGeom>
          <a:solidFill>
            <a:srgbClr val="ED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40480" y="3621024"/>
            <a:ext cx="382219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6273A"/>
                </a:solidFill>
                <a:latin typeface="Aptos"/>
              </a:defRPr>
            </a:pPr>
            <a:r>
              <a:t>Mann–Whitney U / Wilcoxon rank-sum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3502152"/>
            <a:ext cx="3630168" cy="832104"/>
          </a:xfrm>
          <a:prstGeom prst="roundRect">
            <a:avLst/>
          </a:prstGeom>
          <a:solidFill>
            <a:srgbClr val="F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55280" y="3621024"/>
            <a:ext cx="34107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6273A"/>
                </a:solidFill>
                <a:latin typeface="Aptos"/>
              </a:defRPr>
            </a:pPr>
            <a:r>
              <a:t>Wilcoxon signed-rank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462272"/>
            <a:ext cx="2944368" cy="832104"/>
          </a:xfrm>
          <a:prstGeom prst="round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4581144"/>
            <a:ext cx="272491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73A"/>
                </a:solidFill>
                <a:latin typeface="Aptos"/>
              </a:defRPr>
            </a:pPr>
            <a:r>
              <a:rPr lang="ca-ES" dirty="0"/>
              <a:t>Multiple groups / factors</a:t>
            </a:r>
            <a:endParaRPr dirty="0"/>
          </a:p>
        </p:txBody>
      </p:sp>
      <p:sp>
        <p:nvSpPr>
          <p:cNvPr id="27" name="Rounded Rectangle 26"/>
          <p:cNvSpPr/>
          <p:nvPr/>
        </p:nvSpPr>
        <p:spPr>
          <a:xfrm>
            <a:off x="3703320" y="4462272"/>
            <a:ext cx="4041648" cy="832104"/>
          </a:xfrm>
          <a:prstGeom prst="roundRect">
            <a:avLst/>
          </a:prstGeom>
          <a:solidFill>
            <a:srgbClr val="ED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40480" y="4581144"/>
            <a:ext cx="382219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6273A"/>
                </a:solidFill>
                <a:latin typeface="Aptos"/>
              </a:defRPr>
            </a:pPr>
            <a:r>
              <a:t>Conventional factorial ANOVA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18120" y="4462272"/>
            <a:ext cx="3630168" cy="832104"/>
          </a:xfrm>
          <a:prstGeom prst="roundRect">
            <a:avLst/>
          </a:prstGeom>
          <a:solidFill>
            <a:srgbClr val="F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55280" y="4581144"/>
            <a:ext cx="34107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6273A"/>
                </a:solidFill>
                <a:latin typeface="Aptos"/>
              </a:defRPr>
            </a:pPr>
            <a:r>
              <a:t>Mixed-effects model / repeated measures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806440"/>
            <a:ext cx="10698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D6D7B"/>
                </a:solidFill>
                <a:latin typeface="Aptos"/>
              </a:defRPr>
            </a:pPr>
            <a:r>
              <a:t>Note: data distribution, test assumptions, and experimental design also matter.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261</Words>
  <Application>Microsoft Office PowerPoint</Application>
  <PresentationFormat>Pantalla panoràmica</PresentationFormat>
  <Paragraphs>63</Paragraphs>
  <Slides>4</Slides>
  <Notes>0</Notes>
  <HiddenSlides>0</HiddenSlides>
  <MMClips>0</MMClips>
  <ScaleCrop>false</ScaleCrop>
  <HeadingPairs>
    <vt:vector size="6" baseType="variant">
      <vt:variant>
        <vt:lpstr>Tipus de lletra utilitzats</vt:lpstr>
      </vt:variant>
      <vt:variant>
        <vt:i4>2</vt:i4>
      </vt:variant>
      <vt:variant>
        <vt:lpstr>Tema</vt:lpstr>
      </vt:variant>
      <vt:variant>
        <vt:i4>1</vt:i4>
      </vt:variant>
      <vt:variant>
        <vt:lpstr>Títols de les diapositives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Presentació del PowerPoint</vt:lpstr>
      <vt:lpstr>Presentació del PowerPoint</vt:lpstr>
      <vt:lpstr>Presentació del PowerPoint</vt:lpstr>
      <vt:lpstr>Presentació del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Amadís Pagès Pinós</cp:lastModifiedBy>
  <cp:revision>2</cp:revision>
  <dcterms:created xsi:type="dcterms:W3CDTF">2013-01-27T09:14:16Z</dcterms:created>
  <dcterms:modified xsi:type="dcterms:W3CDTF">2026-10-15T12:09:15Z</dcterms:modified>
  <cp:category/>
</cp:coreProperties>
</file>